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E8A33D"/>
          </a:solidFill>
          <a:ln/>
        </p:spPr>
      </p:sp>
      <p:pic>
        <p:nvPicPr>
          <p:cNvPr id="4" name="Image 0" descr="/Users/bharath/Code/Geno-Thermal_Targeting/docs/assets/geno-therma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2" y="219456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554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RUNPOD FLASH HACK DAY  ·  JUNE 30,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Geno-Thermal Targeting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Magnetic Nanoparticle Cancer Therapy — Designed, Evolved, and Verified by an Autonomous Computational Pipeline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discovery  →  ligand design  →  thermo-switch  →  nanoparticle  →  safety circuit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Therapy, Five Disconnected Disciplines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cancer nanotherapy requires chaining genomic analysis, protein structure prediction, thermal-switch engineering, nanoparticle surface design, and safety verification — normally fragmented, manual hand-offs across disconnected tools.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6400800" cy="141732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971800"/>
            <a:ext cx="91440" cy="1417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272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SAFETY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401568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Off-target activation in healthy tissue.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reproducible pipeline — run_pipeline.py — that goes from a target gene to a verified, dual-trigger nanoparticle therapy design.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60920" y="141732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DCEEF0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43800" y="1636776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01000" y="141732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Analysis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60920" y="228600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43800" y="2505456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01000" y="228600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Prediction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60920" y="315468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DCEEF0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3374136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315468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Thermal-Switch Engineering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60920" y="402336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4242816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402336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Nanoparticle Surface Design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60920" y="4892040"/>
            <a:ext cx="4297680" cy="713232"/>
          </a:xfrm>
          <a:prstGeom prst="roundRect">
            <a:avLst>
              <a:gd name="adj" fmla="val 7692"/>
            </a:avLst>
          </a:prstGeom>
          <a:solidFill>
            <a:srgbClr val="DCEEF0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5111496"/>
            <a:ext cx="274320" cy="2743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5111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01000" y="489204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Verification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1169289" cy="1188720"/>
          </a:xfrm>
          <a:prstGeom prst="roundRect">
            <a:avLst>
              <a:gd name="adj" fmla="val 5474"/>
            </a:avLst>
          </a:prstGeom>
          <a:solidFill>
            <a:srgbClr val="0E7C7B"/>
          </a:solidFill>
          <a:ln w="12700">
            <a:solidFill>
              <a:srgbClr val="0A5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1760"/>
            <a:ext cx="1169289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26489" y="3163824"/>
            <a:ext cx="274320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1900809" y="2651760"/>
            <a:ext cx="1169289" cy="1188720"/>
          </a:xfrm>
          <a:prstGeom prst="roundRect">
            <a:avLst>
              <a:gd name="adj" fmla="val 5474"/>
            </a:avLst>
          </a:prstGeom>
          <a:solidFill>
            <a:srgbClr val="0E7C7B"/>
          </a:solidFill>
          <a:ln w="12700">
            <a:solidFill>
              <a:srgbClr val="0A5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0809" y="2651760"/>
            <a:ext cx="1169289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70098" y="3163824"/>
            <a:ext cx="274320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0" name="Shape 8"/>
          <p:cNvSpPr/>
          <p:nvPr/>
        </p:nvSpPr>
        <p:spPr>
          <a:xfrm>
            <a:off x="3344418" y="2651760"/>
            <a:ext cx="1169289" cy="1188720"/>
          </a:xfrm>
          <a:prstGeom prst="roundRect">
            <a:avLst>
              <a:gd name="adj" fmla="val 5474"/>
            </a:avLst>
          </a:prstGeom>
          <a:solidFill>
            <a:srgbClr val="0E7C7B"/>
          </a:solidFill>
          <a:ln w="12700">
            <a:solidFill>
              <a:srgbClr val="0A5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4418" y="2651760"/>
            <a:ext cx="1169289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Thermo-Switch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13707" y="3163824"/>
            <a:ext cx="274320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4788027" y="2651760"/>
            <a:ext cx="1169289" cy="1188720"/>
          </a:xfrm>
          <a:prstGeom prst="roundRect">
            <a:avLst>
              <a:gd name="adj" fmla="val 5474"/>
            </a:avLst>
          </a:prstGeom>
          <a:solidFill>
            <a:srgbClr val="0E7C7B"/>
          </a:solidFill>
          <a:ln w="12700">
            <a:solidFill>
              <a:srgbClr val="0A5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8027" y="2651760"/>
            <a:ext cx="1169289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Nanoparticle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Opt.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57316" y="3163824"/>
            <a:ext cx="274320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6" name="Shape 14"/>
          <p:cNvSpPr/>
          <p:nvPr/>
        </p:nvSpPr>
        <p:spPr>
          <a:xfrm>
            <a:off x="6231636" y="2651760"/>
            <a:ext cx="1169289" cy="1188720"/>
          </a:xfrm>
          <a:prstGeom prst="roundRect">
            <a:avLst>
              <a:gd name="adj" fmla="val 5474"/>
            </a:avLst>
          </a:prstGeom>
          <a:solidFill>
            <a:srgbClr val="0E7C7B"/>
          </a:solidFill>
          <a:ln w="12700">
            <a:solidFill>
              <a:srgbClr val="0A5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1636" y="2651760"/>
            <a:ext cx="1169289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Bio-Circuit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0925" y="3163824"/>
            <a:ext cx="274320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7675245" y="2651760"/>
            <a:ext cx="1169289" cy="1188720"/>
          </a:xfrm>
          <a:prstGeom prst="roundRect">
            <a:avLst>
              <a:gd name="adj" fmla="val 5474"/>
            </a:avLst>
          </a:prstGeom>
          <a:solidFill>
            <a:srgbClr val="0E7C7B"/>
          </a:solidFill>
          <a:ln w="12700">
            <a:solidFill>
              <a:srgbClr val="0A5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75245" y="2651760"/>
            <a:ext cx="1169289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+ PPO RL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44534" y="3163824"/>
            <a:ext cx="274320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2" name="Shape 20"/>
          <p:cNvSpPr/>
          <p:nvPr/>
        </p:nvSpPr>
        <p:spPr>
          <a:xfrm>
            <a:off x="9118854" y="2651760"/>
            <a:ext cx="1169289" cy="1188720"/>
          </a:xfrm>
          <a:prstGeom prst="roundRect">
            <a:avLst>
              <a:gd name="adj" fmla="val 5474"/>
            </a:avLst>
          </a:prstGeom>
          <a:solidFill>
            <a:srgbClr val="16365C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118854" y="2651760"/>
            <a:ext cx="1169289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Verify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288143" y="3163824"/>
            <a:ext cx="274320" cy="16459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62463" y="2651760"/>
            <a:ext cx="1169289" cy="1188720"/>
          </a:xfrm>
          <a:prstGeom prst="roundRect">
            <a:avLst>
              <a:gd name="adj" fmla="val 5474"/>
            </a:avLst>
          </a:prstGeom>
          <a:solidFill>
            <a:srgbClr val="0E7C7B"/>
          </a:solidFill>
          <a:ln w="12700">
            <a:solidFill>
              <a:srgbClr val="0A5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2463" y="2651760"/>
            <a:ext cx="1169289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runs when OpenMM is installed; pipeline continues without 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CLI-orchestrated by run_pipeline.py — each stage logs independently · optional GPU fan-out across stages via RunPod Flash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Genomic Discovery &amp; Ligand Engineering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–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007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AlphaGenomeClient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AlphaGenome API or local heuristic fallback scores normal vs. mutated sequence context.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542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TARGET REPORT (real output)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3172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Mutated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86200" y="3337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8221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SUPER_ENHANCER   ·   H3K27ac High · H3K4me1 High · H3K27me3 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28016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80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7007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AlphaFold-Server / Boltz docking jobs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EGFR-targeting peptide candidates docked; ranked by pLDDT (85–91) and ranking/PAE-style score (0.46–0.73).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432304"/>
            <a:ext cx="5394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25420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  vs.  NEGATIVE CONTROL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Novel_Peptide_B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91   ·   ranking score 0.73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Poly_Alanine_Neg_Control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pLDDT 85   ·   ranking score 0.56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27632" y="4325112"/>
            <a:ext cx="8677656" cy="1636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0" descr="/Users/bharath/Code/Geno-Thermal_Targeting/panel_selectivity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8347" y="4434840"/>
            <a:ext cx="3216226" cy="1417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6126480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Multi-target selectivity panel — EGFR (intended) vs. HER2 / KRAS off-targets, candidates ranked by selectivity margin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Thermo-Switch &amp; Nanoparticle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– 4  ·  PHYSICS-BASED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8912" y="1307592"/>
            <a:ext cx="5431536" cy="3236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bharath/Code/Geno-Thermal_Targeting/thermo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417320"/>
            <a:ext cx="452628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6634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GCN4 leucine-zipper-like scaffold</a:t>
            </a:r>
            <a:endParaRPr lang="en-US" sz="135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via a two-state native/unfolded Gibbs free energy model.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55778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5577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37°C · STABLE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94560" y="5577840"/>
            <a:ext cx="1783080" cy="36576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/>
          <p:nvPr/>
        </p:nvSpPr>
        <p:spPr>
          <a:xfrm>
            <a:off x="2194560" y="5577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40°C · TARGET Tm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69080" y="557784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4069080" y="5577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43°C · UNFOLDS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91072" y="1307592"/>
            <a:ext cx="5248656" cy="3236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/Users/bharath/Code/Geno-Thermal_Targeting/nano_sur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17320"/>
            <a:ext cx="3017520" cy="3017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0" y="4663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Monte Carlo annealing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Metropolis algorithm distributes targeting ligand and PEG stealth-polymer on the nanoparticle surface, balancing binding accessibility against immune evasion.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Circuit &amp; Sequence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– 6  ·  GA + RL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8912" y="1307592"/>
            <a:ext cx="5431536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Users/bharath/Code/Geno-Thermal_Targeting/circui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4572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148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AND-gate safety logic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(tumor-context) activity × thermal-switch activation — therapy fires only when BOTH cancer context AND ~43°C heat are present. Swept across normal/tumor context and ~36–45.5°C.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91072" y="1307592"/>
            <a:ext cx="5248656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Users/bharath/Code/Geno-Thermal_Targeting/evolution_trajec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971" y="1417320"/>
            <a:ext cx="3918857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 (hard_mode/evolver.py)</a:t>
            </a:r>
            <a:endParaRPr lang="en-US" sz="12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Evolves 200bp synthetic promoters — elitism, tournament selection, adaptive mutation-rate escalation on fitness plateaus; scored on tumor / normal / heat-motif components.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RL agent  (Stable-Baselines3)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in a custom Gymnasium environment (PromoterDesignEnv) to write promoter sequences directly.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RunPod Flash: Scaling the GA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HEADLINE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fitness evaluation — normally serial — fans out across RunPod Flash GPU/CPU workers with a single --flash switch. No Dockerfile.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075688" cy="914400"/>
          </a:xfrm>
          <a:prstGeom prst="roundRect">
            <a:avLst>
              <a:gd name="adj" fmla="val 6000"/>
            </a:avLst>
          </a:prstGeom>
          <a:solidFill>
            <a:srgbClr val="11365E"/>
          </a:solidFill>
          <a:ln w="12700">
            <a:solidFill>
              <a:srgbClr val="1C4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2316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/ 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9864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Succeeded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34056" y="2331720"/>
            <a:ext cx="2075688" cy="914400"/>
          </a:xfrm>
          <a:prstGeom prst="roundRect">
            <a:avLst>
              <a:gd name="adj" fmla="val 6000"/>
            </a:avLst>
          </a:prstGeom>
          <a:solidFill>
            <a:srgbClr val="11365E"/>
          </a:solidFill>
          <a:ln w="12700">
            <a:solidFill>
              <a:srgbClr val="1C4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42316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34056" y="289864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19472" y="2331720"/>
            <a:ext cx="2075688" cy="914400"/>
          </a:xfrm>
          <a:prstGeom prst="roundRect">
            <a:avLst>
              <a:gd name="adj" fmla="val 6000"/>
            </a:avLst>
          </a:prstGeom>
          <a:solidFill>
            <a:srgbClr val="11365E"/>
          </a:solidFill>
          <a:ln w="12700">
            <a:solidFill>
              <a:srgbClr val="1C4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423160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19472" y="2898648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In-Flight Workers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2075688" cy="914400"/>
          </a:xfrm>
          <a:prstGeom prst="roundRect">
            <a:avLst>
              <a:gd name="adj" fmla="val 6000"/>
            </a:avLst>
          </a:prstGeom>
          <a:solidFill>
            <a:srgbClr val="11365E"/>
          </a:solidFill>
          <a:ln w="12700">
            <a:solidFill>
              <a:srgbClr val="1C4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4728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7.1s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922776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34056" y="3355848"/>
            <a:ext cx="2075688" cy="914400"/>
          </a:xfrm>
          <a:prstGeom prst="roundRect">
            <a:avLst>
              <a:gd name="adj" fmla="val 6000"/>
            </a:avLst>
          </a:prstGeom>
          <a:solidFill>
            <a:srgbClr val="11365E"/>
          </a:solidFill>
          <a:ln w="12700">
            <a:solidFill>
              <a:srgbClr val="1C4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4056" y="344728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4.8s / 5.6s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34056" y="3922776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 / p95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19472" y="3355848"/>
            <a:ext cx="2075688" cy="914400"/>
          </a:xfrm>
          <a:prstGeom prst="roundRect">
            <a:avLst>
              <a:gd name="adj" fmla="val 6000"/>
            </a:avLst>
          </a:prstGeom>
          <a:solidFill>
            <a:srgbClr val="11365E"/>
          </a:solidFill>
          <a:ln w="12700">
            <a:solidFill>
              <a:srgbClr val="1C4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44728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7.04 / 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19472" y="3922776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FOR THE RUN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$0.0048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5230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cpu5c-4-8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6400800" cy="777240"/>
          </a:xfrm>
          <a:prstGeom prst="rect">
            <a:avLst/>
          </a:prstGeom>
          <a:solidFill>
            <a:srgbClr val="16365C"/>
          </a:solidFill>
          <a:ln w="12700">
            <a:solidFill>
              <a:srgbClr val="E8A33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77240" y="5623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design: GA scoring runs in local-fallback mode on workers — avoids exceeding the AlphaGenome API rate limit across 50 concurrent workers.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05472" y="1353312"/>
            <a:ext cx="4562856" cy="4791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0" descr="/Users/bharath/Code/Geno-Thermal_Targeting/flash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903095"/>
            <a:ext cx="4343400" cy="369189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Reliability, Cost &amp; Observability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HARDENING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86000"/>
            <a:ext cx="82296" cy="1417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323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Per-Job Timeouts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asyncio.wait_for guards every job so one slow worker can't stall the run.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2286000"/>
            <a:ext cx="82296" cy="1417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4323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&amp; Flag, Never Crash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81635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jobs are dropped-and-flagged instead of aborting the whole fan-out.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77640"/>
            <a:ext cx="82296" cy="1417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239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Fallback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50799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auto-falls-back to a local threadpool if Flash workers error — "kill an endpoint mid-run, it finishes locally."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977640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977640"/>
            <a:ext cx="82296" cy="1417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1239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GPU-Second Tracking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50799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flash_metrics.py + flash_dashboard.py track per-phase GPU-seconds and est. dollar cost across all 3 fan-out sites: GA fitness, Boltz fold+affinity, PPO/OpenMM jobs.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PHYSICS-GROUNDED, AUDITABLE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OpenMM molecular-dynamics stage (hard_mode/physics_verify.py) compares folded-state RMSD at 37°C vs. 43°C to verify thermo-switch behavior.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PDBFixer repairs AlphaFold-style structures (missing atoms/hydrogens) before simulation.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CUDA / OpenCL / CPU hardware fallback.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5577840" cy="17830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4434840"/>
            <a:ext cx="91440" cy="1783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90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ARTIFACT TRAIL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target reports, CSV candidate libraries and evolution logs, and the chart images shown in this deck — auditable end to end.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DCEEF0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463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target_report.json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216408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164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candidate_library.csv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86512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DCEEF0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865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evolution_log.csv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56616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3566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thermo_profile.png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26720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DCEEF0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267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nano_surface.png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496824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968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circuit_heatmap.png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5669280"/>
            <a:ext cx="5120640" cy="548640"/>
          </a:xfrm>
          <a:prstGeom prst="roundRect">
            <a:avLst>
              <a:gd name="adj" fmla="val 10000"/>
            </a:avLst>
          </a:prstGeom>
          <a:solidFill>
            <a:srgbClr val="DCEEF0"/>
          </a:solidFill>
          <a:ln w="12700">
            <a:solidFill>
              <a:srgbClr val="D7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5669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panel_selectivity_heatmap.png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reproducible computational pipeline from a single target gene to a dual-trigger (tumor-context AND hyperthermia), nanoparticle-delivered therapy design.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evolutionary search scales across a serverless GPU/CPU fleet on RunPod Flash in seconds, at fractions of a cent.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RunPod Flash  ·  github repo: Geno-Thermal_Targeting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/ live demo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Geno-Thermal Targeting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Geno-Thermal Targeting</dc:title>
  <dc:subject>PptxGenJS Presentation</dc:subject>
  <dc:creator>Geno-Thermal Targeting</dc:creator>
  <cp:lastModifiedBy>Geno-Thermal Targeting</cp:lastModifiedBy>
  <cp:revision>1</cp:revision>
  <dcterms:created xsi:type="dcterms:W3CDTF">2026-06-30T19:02:09Z</dcterms:created>
  <dcterms:modified xsi:type="dcterms:W3CDTF">2026-06-30T19:02:09Z</dcterms:modified>
</cp:coreProperties>
</file>